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1" r:id="rId4"/>
    <p:sldId id="259" r:id="rId5"/>
    <p:sldId id="260" r:id="rId6"/>
    <p:sldId id="286" r:id="rId7"/>
    <p:sldId id="272" r:id="rId8"/>
    <p:sldId id="287" r:id="rId9"/>
    <p:sldId id="261" r:id="rId10"/>
    <p:sldId id="273" r:id="rId11"/>
    <p:sldId id="262" r:id="rId12"/>
    <p:sldId id="274" r:id="rId13"/>
    <p:sldId id="275" r:id="rId14"/>
    <p:sldId id="263" r:id="rId15"/>
    <p:sldId id="276" r:id="rId16"/>
    <p:sldId id="277" r:id="rId17"/>
    <p:sldId id="280" r:id="rId18"/>
    <p:sldId id="278" r:id="rId19"/>
    <p:sldId id="281" r:id="rId20"/>
    <p:sldId id="283" r:id="rId21"/>
    <p:sldId id="265" r:id="rId22"/>
    <p:sldId id="284" r:id="rId23"/>
    <p:sldId id="266" r:id="rId24"/>
    <p:sldId id="267" r:id="rId25"/>
    <p:sldId id="285" r:id="rId26"/>
    <p:sldId id="268" r:id="rId27"/>
    <p:sldId id="27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18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040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7BF-6D57-6490-51DB-19B5443B5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59998-4395-92DF-5CE4-32757A8D6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576F8-56C3-5998-0CE9-F831257BF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85E2F-54D4-F43E-C163-FC49BE0B7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65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32668-B0A8-F80D-BEDD-A76773AF2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5EFC4-C215-9F39-18BE-66FE44A01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7B029-F4F3-6A12-E046-B5C3E484C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A4583-0047-C7B3-477C-A2D432E21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45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AB5D9-C492-8D17-EC2E-6FA7AE54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E4F9E-0043-4CF8-A441-B52203883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39AD4-5F06-B83F-122D-1724E4A1E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15C79-48EB-AC9E-7838-CB35360F9E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51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D4EC3-B3C5-5494-7B2E-783C9CFD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2A5A9-369E-164B-5D02-13AD0D5B9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10BFC-0605-C13A-DB67-A44A5265F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FD456-896C-9659-F083-A0EBCF7B4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77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02BAC-D31A-08B5-2C64-AA184572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C11E8-C738-FE8A-DED6-BA4FB9553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007E4-55B9-6CC4-7F31-1589DD23A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7F032-7612-11D4-10F4-2F9D59D56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65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CFA2-8BB2-952E-65DE-967A4B27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72C25-D172-E8A3-E928-D89BB5536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51734-49AC-8D6B-6DCF-A95195B43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C26FF-3EEB-B24A-B704-7C44AF4EC2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98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4A7C2-6B83-51CE-B687-8E287697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28618-0B95-1133-53C4-2E99D2984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DBCB0-FC18-FD56-1367-4296D7D19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29B95-95FF-24A6-8C5F-9E0A93709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93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04F6-9489-15B1-981D-4BBE2671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E2030-C269-C056-D2EC-92B772080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56E4F-1E1D-E2C6-F80A-0A438963D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B0ADB-CC4B-BEED-2471-E70D1005D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51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99414-1411-536C-91DA-21CA777A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699FD-7A8C-5536-E392-B02B9DBC1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281C6-8F8B-6A4A-B075-0D4C3FFF4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3AE99-C052-4C90-FC79-36ED422E1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36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3EBCF-618D-7C14-8DC5-559E34FE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86841-97A5-10F1-0706-905CCB5C5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E9731-75C4-754C-187E-EA94D5439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2D56B-05A3-D2F9-C3BE-43D69D1CB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85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0DBFD-CC6C-9DDD-2537-F1A0DBC9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C9C69-820C-C308-5810-3CFCC13F2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99526-D5DD-1364-96A1-5BF087BB0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DA4FF-D646-C9DB-8D4C-4D0F69A94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56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D45EF-78AE-1C38-FE6A-33352FF9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C1FDA-9A54-EF1E-45AE-89F3DF521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01622-35E1-48AE-C47C-206F86587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09E51-AC55-F3C3-B2DC-FDC25425E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88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2729-A9A9-9401-FAC8-CA5477B5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F1083-C0A1-576F-3376-A8889663D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ACACC-B286-870E-CE87-35907FC06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7B0E2-9EBD-2F5D-B13B-2D36955A4A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77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7D60B-0D69-173C-9788-60434D0E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DCE38-3B57-CD76-5E6A-B3BE155CB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28C19-61B7-16C4-6B6A-35140EC74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CD06-3EF6-FAE7-DDEF-F9BCBAA6A2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4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1D75E-6BFF-DEFE-3962-D43939088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5F21E-4B63-3E2B-B5CF-4560E1491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64A14-1527-05A6-534C-7D00A1C1F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DD107-AD47-8AEE-D68E-C5B47AFF0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610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-1645920"/>
            <a:ext cx="4754880" cy="4754880"/>
          </a:xfrm>
          <a:prstGeom prst="roundRect">
            <a:avLst>
              <a:gd name="adj" fmla="val 19231"/>
            </a:avLst>
          </a:prstGeom>
          <a:solidFill>
            <a:srgbClr val="1B2A57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828800" y="4572000"/>
            <a:ext cx="3840480" cy="3840480"/>
          </a:xfrm>
          <a:prstGeom prst="roundRect">
            <a:avLst>
              <a:gd name="adj" fmla="val 21429"/>
            </a:avLst>
          </a:prstGeom>
          <a:solidFill>
            <a:srgbClr val="1FAFA0">
              <a:alpha val="18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KRIVIČNA DELA PROTIV ŽIVOTNE SREDINE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822960" y="32918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za podršku odlučivanju u krivičnim postupcima zbog nezakonitog lova i ribolova — Glava 25 Krivičnog zakonika Crne Gore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2960" y="4343400"/>
            <a:ext cx="2743200" cy="0"/>
          </a:xfrm>
          <a:prstGeom prst="line">
            <a:avLst/>
          </a:prstGeom>
          <a:noFill/>
          <a:ln w="19050">
            <a:solidFill>
              <a:srgbClr val="1FAFA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Projektni zadatak iz Pravne informatike –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akademska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2025/2026. godina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Veljko Jovanović E2-12/2024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59C7EB6-ED93-9C98-148A-A568B9246268}"/>
              </a:ext>
            </a:extLst>
          </p:cNvPr>
          <p:cNvSpPr/>
          <p:nvPr/>
        </p:nvSpPr>
        <p:spPr>
          <a:xfrm>
            <a:off x="4856479" y="731520"/>
            <a:ext cx="62955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1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 projekta i korisnički tokovi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sudiji pomaže u odlučivanju u predmetima nezakonitog lova (čl. 325 KZ CG) i ribolova (čl. 326 KZ CG): predlaže prekršene pravne norme i sankciju, kombinujući rasuđivanje po pravilima, rasuđivanje po sličnim slučajevima i automatsko generisanje </a:t>
            </a:r>
            <a:r>
              <a:rPr lang="en-US" sz="16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teksta</a:t>
            </a: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odluke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EAF0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63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314645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86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31596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sudskih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odluka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filtriranje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 </a:t>
            </a:r>
            <a:r>
              <a:rPr lang="en-US" sz="12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vrsti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dela</a:t>
            </a:r>
          </a:p>
        </p:txBody>
      </p:sp>
      <p:sp>
        <p:nvSpPr>
          <p:cNvPr id="10" name="Shape 7"/>
          <p:cNvSpPr/>
          <p:nvPr/>
        </p:nvSpPr>
        <p:spPr>
          <a:xfrm>
            <a:off x="4343400" y="27432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EAF0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063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650" y="314645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886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</a:t>
            </a:r>
            <a:r>
              <a:rPr lang="en-US" sz="18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zakona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63440" y="431596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članova 325. i 326. Krivičnog zakonika Crne Gore, sa stavovima i navigacijom kroz reference.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7432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EAF0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3063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410" y="3146450"/>
            <a:ext cx="473659" cy="47365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886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presuda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58200" y="431596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činjenica novog slučaja, preporuka po pravilima i po sličnosti, generisanje i čuvanje presude.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2560-E667-3416-0DD5-090BDBE4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77AE44-0B77-FD53-B4A5-99A6459663A8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2BFE78-2633-C926-C691-A1AD077CFA45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F7AF20-EE8F-5462-E8D4-4A16A04645D7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1 IZ SPECIFIKACIJE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82D25F-F514-9D48-7FF9-CD35CF83BD95}"/>
              </a:ext>
            </a:extLst>
          </p:cNvPr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Zakon u Akoma Ntoso formatu</a:t>
            </a:r>
            <a:endParaRPr lang="en-US" sz="2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20C856-3370-1C5C-5058-82A507D053C4}"/>
              </a:ext>
            </a:extLst>
          </p:cNvPr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Glava 25 Krivičnog zakonika Crne Gore anotirana je kao Akoma Ntoso XML: metapodaci (naziv, datum izdavanja, izvor) i hijerarhija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teksta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poglavlje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član → stav, sa referencama ka drugim članovima.</a:t>
            </a:r>
            <a:endParaRPr lang="en-US" sz="14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2DAA625-0068-42A4-E695-40D97EE21057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FDD51-369C-03A7-8CE2-F9CA73BF1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183" y="2560320"/>
            <a:ext cx="6180287" cy="352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26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1 IZ SPECIFIKACIJE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Članovi</a:t>
            </a: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Akoma Ntoso formatu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74625" y="1783080"/>
            <a:ext cx="5349240" cy="2340740"/>
          </a:xfrm>
          <a:prstGeom prst="roundRect">
            <a:avLst>
              <a:gd name="adj" fmla="val 2857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4665" y="194310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88" y="2014423"/>
            <a:ext cx="405994" cy="405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6185" y="19888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Član 325 - </a:t>
            </a:r>
            <a:r>
              <a:rPr lang="en-US" sz="17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Nezakonit</a:t>
            </a:r>
            <a:r>
              <a:rPr lang="en-US" sz="17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lov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229738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 u </a:t>
            </a:r>
            <a:r>
              <a:rPr lang="en-US" sz="12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zabranjeno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na zabranjenom mjestu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 bez dozvole ili zabranjenim sredstvima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Oduzimanje ulovljene divljači i sredstava za lov (st. 5)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74625" y="4229721"/>
            <a:ext cx="5349240" cy="2353959"/>
          </a:xfrm>
          <a:prstGeom prst="roundRect">
            <a:avLst>
              <a:gd name="adj" fmla="val 2857"/>
            </a:avLst>
          </a:prstGeom>
          <a:solidFill>
            <a:srgbClr val="EAF0FC"/>
          </a:solidFill>
          <a:ln/>
        </p:spPr>
      </p:sp>
      <p:sp>
        <p:nvSpPr>
          <p:cNvPr id="13" name="Shape 10"/>
          <p:cNvSpPr/>
          <p:nvPr/>
        </p:nvSpPr>
        <p:spPr>
          <a:xfrm>
            <a:off x="594665" y="4355659"/>
            <a:ext cx="548640" cy="496726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88" y="4413484"/>
            <a:ext cx="405994" cy="36757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6185" y="4388399"/>
            <a:ext cx="3840480" cy="37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Član 326 - </a:t>
            </a:r>
            <a:r>
              <a:rPr lang="en-US" sz="17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Nezakonit</a:t>
            </a:r>
            <a:r>
              <a:rPr lang="en-US" sz="17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ribolov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48640" y="4868252"/>
            <a:ext cx="4709160" cy="1821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Ribolov električnom strujom, agregatom, sondom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Zabranjena sredstva i mrijesni period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Oduzimanje ulova i opreme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8ED408-4BCA-2F1A-1E65-95BA20E6E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905" y="1005840"/>
            <a:ext cx="5854700" cy="557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2 IZ SPECIFIKACIJE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</a:t>
            </a: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odluka</a:t>
            </a: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Akoma Ntoso formatu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Presuda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21.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Anotirane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kao Akoma Ntoso XML (broj predmeta, stranke, sudija, zapisničar, datum, reference ka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članovima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,…)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18388" y="3049866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2A57"/>
          </a:solidFill>
          <a:ln/>
        </p:spPr>
      </p:sp>
      <p:sp>
        <p:nvSpPr>
          <p:cNvPr id="8" name="Text 6"/>
          <p:cNvSpPr/>
          <p:nvPr/>
        </p:nvSpPr>
        <p:spPr>
          <a:xfrm>
            <a:off x="1718388" y="321445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116" y="3964266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odluka ukupno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1316" y="3049866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2A57"/>
          </a:solidFill>
          <a:ln/>
        </p:spPr>
      </p:sp>
      <p:sp>
        <p:nvSpPr>
          <p:cNvPr id="11" name="Text 9"/>
          <p:cNvSpPr/>
          <p:nvPr/>
        </p:nvSpPr>
        <p:spPr>
          <a:xfrm>
            <a:off x="4571316" y="321445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81044" y="3964266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nezakonit ribolov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33972" y="3049866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B2A57"/>
          </a:solidFill>
          <a:ln/>
        </p:spPr>
      </p:sp>
      <p:sp>
        <p:nvSpPr>
          <p:cNvPr id="14" name="Text 12"/>
          <p:cNvSpPr/>
          <p:nvPr/>
        </p:nvSpPr>
        <p:spPr>
          <a:xfrm>
            <a:off x="7424244" y="321445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533972" y="3964266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nezakonit lov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3F041-37C3-F8F7-30A1-87AE7D6C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DAD2CF-C515-C157-4F97-62B58F5BC0C4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364C27-8CE6-A8ED-6C06-DA20B21C04EA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EEB4CA-3BEE-17B2-4343-746AF4BED12B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2 IZ SPECIFIKACIJE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D91A9A0-38FB-640E-E38D-424DA234AD03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4A143E-9181-1719-54F3-4A5A36826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939" y="220996"/>
            <a:ext cx="5860431" cy="641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5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3B3E0-FC48-3CA3-1C48-A622E8F27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854936-A564-8688-9D86-0622D2A3690C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3BACB2-8A25-A83C-C494-15AA8DBB9F03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DBE74D-0FE2-9DAC-3E9B-71527020854D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2 IZ SPECIFIKACIJE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9A7F0A-C7EF-9BC7-89CA-BF904C5D5581}"/>
              </a:ext>
            </a:extLst>
          </p:cNvPr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</a:t>
            </a: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sudskih</a:t>
            </a: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odluka</a:t>
            </a:r>
            <a:endParaRPr lang="en-US" sz="2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5E5F1E8-0D33-EF11-E660-F8D305CBE99B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BDDE53-1948-394F-08BF-D1E5F40C6D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31"/>
          <a:stretch>
            <a:fillRect/>
          </a:stretch>
        </p:blipFill>
        <p:spPr>
          <a:xfrm>
            <a:off x="552169" y="1649076"/>
            <a:ext cx="5475408" cy="47517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C249CDF-D284-4487-EF17-0990376C4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91" y="1603048"/>
            <a:ext cx="4408454" cy="479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66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D45C2-4176-DCBA-E21C-1AE85B0CD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F3BF31-AD70-2F09-E76A-A1A9AF6473DE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7D6F6D-4261-EB85-D05A-CBCABA42D625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523965-33F2-8BAE-F1D8-7CBC3DC05A75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2 IZ SPECIFIKACIJE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B15825-31D6-DCC4-C96D-A0D5AB19ED2C}"/>
              </a:ext>
            </a:extLst>
          </p:cNvPr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</a:t>
            </a: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sudskih</a:t>
            </a: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odluka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0CEF3E-8D37-9334-EDBD-44EA6F29A6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08" r="19641"/>
          <a:stretch>
            <a:fillRect/>
          </a:stretch>
        </p:blipFill>
        <p:spPr>
          <a:xfrm>
            <a:off x="955288" y="2002396"/>
            <a:ext cx="10281424" cy="38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1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3 IZ SPECIFIKACIJE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Pravne norme u LegalRuleML formatu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Modelovano je 10 pravila u rulebase.lrml (LegalRuleML) za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dr-device.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66547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6609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ps_joint_perpetration —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saizvršilaštvo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2644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2384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3192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ps_hunting_1 … ps_hunting_5 — uslovi nezakonitog lova (čl. 325)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922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982212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977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ps_fishing_1 … ps_fishing_4 — uslovi nezakonitog ribolova (čl. 326)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58114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640580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6360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Odgovarajuće PenaltyStatement stavke definišu raspon kazne za svako pravilo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B5F8A-1FEC-195D-4B37-301885B40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412FBB-394A-30D9-2C84-70EACF0F0DC1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45D61C-0DFA-C125-6312-520C5301DE6A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E2962B-9502-8D6A-C87A-DBF38282C3F7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3 IZ SPECIFIKACIJE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7DDACC-414C-C6FA-D484-8C134F8F40E4}"/>
              </a:ext>
            </a:extLst>
          </p:cNvPr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Pravne norme u LegalRuleML formatu</a:t>
            </a:r>
            <a:endParaRPr lang="en-US" sz="2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99E065-2258-8E31-637F-1CBE7E315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5" y="2010488"/>
            <a:ext cx="5397500" cy="3683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A69B45F-BA14-B36B-F177-0D0E30BF2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930" y="1990241"/>
            <a:ext cx="5210059" cy="37234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1487D1-8AB2-4896-AF0D-D112C4F11C6C}"/>
              </a:ext>
            </a:extLst>
          </p:cNvPr>
          <p:cNvCxnSpPr>
            <a:cxnSpLocks/>
          </p:cNvCxnSpPr>
          <p:nvPr/>
        </p:nvCxnSpPr>
        <p:spPr>
          <a:xfrm>
            <a:off x="6095847" y="1884784"/>
            <a:ext cx="0" cy="451601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526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4 IZ SPECIFIKACIJE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Ekstrakcija metapodataka i činjeničnog stanja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41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AkomaNtosoParser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automatizovano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ekstraktuje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podatke iz XML regex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pravilima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bez ručnog prepisivanja postojećih presuda.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39" y="2542032"/>
            <a:ext cx="566021" cy="658368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2" y="2641884"/>
            <a:ext cx="487193" cy="4871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450592"/>
            <a:ext cx="30187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Metapodaci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325879" y="2743200"/>
            <a:ext cx="1061289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(FRBRauthor ili normalizacija po gradu), sudija, stranke, zapisničar, datum, broj predmeta.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39" y="3730752"/>
            <a:ext cx="566021" cy="658368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2" y="3830604"/>
            <a:ext cx="487193" cy="4871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79" y="3611148"/>
            <a:ext cx="30187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Pravne činjenice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325879" y="4069080"/>
            <a:ext cx="10963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Primenjeni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članovi (čl. 23, 325, 326), oduzeti predmeti, novčana kazna, </a:t>
            </a:r>
            <a:r>
              <a:rPr lang="en-US" sz="20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kazna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meseci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/dani/časovi/</a:t>
            </a:r>
            <a:r>
              <a:rPr lang="en-US" sz="20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uslovna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</a:t>
            </a:r>
            <a:r>
              <a:rPr lang="en-US" sz="20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strogo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ograničeni regex-i.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39" y="5202204"/>
            <a:ext cx="566021" cy="658368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2" y="5302056"/>
            <a:ext cx="487193" cy="4871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79" y="5128923"/>
            <a:ext cx="30187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Ručni unos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316064" y="5432633"/>
            <a:ext cx="1061289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nove slučajeve sudija unosi činjenice direktno kroz formu (Nova </a:t>
            </a:r>
            <a:r>
              <a:rPr lang="en-US" sz="20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presuda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1551614" y="6391656"/>
            <a:ext cx="3773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6EA27-49AA-C0ED-8F5B-D2132105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4">
            <a:extLst>
              <a:ext uri="{FF2B5EF4-FFF2-40B4-BE49-F238E27FC236}">
                <a16:creationId xmlns:a16="http://schemas.microsoft.com/office/drawing/2014/main" id="{3856C6E8-B064-A8D5-F404-E5E6F75516B5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0FDBCA7-0A10-29C1-1C2E-664F08008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6" y="5573352"/>
            <a:ext cx="10976331" cy="7317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9354D4F-1C7E-101F-E636-A7E5D3259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71" y="482469"/>
            <a:ext cx="8435720" cy="50908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F5CDD4-2666-C004-5EF9-0B148499D76F}"/>
              </a:ext>
            </a:extLst>
          </p:cNvPr>
          <p:cNvSpPr txBox="1"/>
          <p:nvPr/>
        </p:nvSpPr>
        <p:spPr>
          <a:xfrm>
            <a:off x="9069572" y="754912"/>
            <a:ext cx="27644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 err="1"/>
              <a:t>TextMining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 err="1"/>
              <a:t>Ključne</a:t>
            </a:r>
            <a:r>
              <a:rPr lang="en-US" sz="2800" dirty="0"/>
              <a:t> </a:t>
            </a:r>
            <a:r>
              <a:rPr lang="en-US" sz="2800" dirty="0" err="1"/>
              <a:t>reči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/>
              <a:t>Regex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46911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1FC4-D46D-3C0D-DA06-1D4B66D61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4">
            <a:extLst>
              <a:ext uri="{FF2B5EF4-FFF2-40B4-BE49-F238E27FC236}">
                <a16:creationId xmlns:a16="http://schemas.microsoft.com/office/drawing/2014/main" id="{A2844C58-2755-B7E2-02D2-A0C83D350E48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F104A4-A6E9-652F-FB80-19FAEF5F4C16}"/>
              </a:ext>
            </a:extLst>
          </p:cNvPr>
          <p:cNvSpPr txBox="1"/>
          <p:nvPr/>
        </p:nvSpPr>
        <p:spPr>
          <a:xfrm>
            <a:off x="539750" y="653312"/>
            <a:ext cx="109069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 err="1"/>
              <a:t>Problemi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padežima</a:t>
            </a:r>
            <a:r>
              <a:rPr lang="en-US" sz="2800" dirty="0"/>
              <a:t>, </a:t>
            </a:r>
            <a:r>
              <a:rPr lang="en-US" sz="2800" dirty="0" err="1"/>
              <a:t>nastavcima</a:t>
            </a:r>
            <a:r>
              <a:rPr lang="en-US" sz="2800" dirty="0"/>
              <a:t>, </a:t>
            </a:r>
            <a:r>
              <a:rPr lang="en-US" sz="2800" dirty="0" err="1"/>
              <a:t>drugačijim</a:t>
            </a:r>
            <a:r>
              <a:rPr lang="en-US" sz="2800" dirty="0"/>
              <a:t> </a:t>
            </a:r>
            <a:r>
              <a:rPr lang="en-US" sz="2800" dirty="0" err="1"/>
              <a:t>izrazima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 err="1"/>
              <a:t>Korišćeni</a:t>
            </a:r>
            <a:r>
              <a:rPr lang="en-US" sz="2800" dirty="0"/>
              <a:t> AI je </a:t>
            </a:r>
            <a:r>
              <a:rPr lang="en-US" sz="2800" dirty="0" err="1"/>
              <a:t>više</a:t>
            </a:r>
            <a:r>
              <a:rPr lang="en-US" sz="2800" dirty="0"/>
              <a:t> puta </a:t>
            </a:r>
            <a:r>
              <a:rPr lang="en-US" sz="2800" dirty="0" err="1"/>
              <a:t>promptovan</a:t>
            </a:r>
            <a:r>
              <a:rPr lang="en-US" sz="2800" dirty="0"/>
              <a:t> da </a:t>
            </a:r>
            <a:r>
              <a:rPr lang="en-US" sz="2800" dirty="0" err="1"/>
              <a:t>analizira</a:t>
            </a:r>
            <a:r>
              <a:rPr lang="en-US" sz="2800" dirty="0"/>
              <a:t> </a:t>
            </a:r>
            <a:r>
              <a:rPr lang="en-US" sz="2800" dirty="0" err="1"/>
              <a:t>tekstove</a:t>
            </a:r>
            <a:r>
              <a:rPr lang="en-US" sz="2800" dirty="0"/>
              <a:t> </a:t>
            </a:r>
            <a:r>
              <a:rPr lang="en-US" sz="2800" dirty="0" err="1"/>
              <a:t>presuda</a:t>
            </a:r>
            <a:r>
              <a:rPr lang="en-US" sz="2800" dirty="0"/>
              <a:t> u </a:t>
            </a:r>
            <a:r>
              <a:rPr lang="en-US" sz="2800" dirty="0" err="1"/>
              <a:t>potrazi</a:t>
            </a:r>
            <a:r>
              <a:rPr lang="en-US" sz="2800" dirty="0"/>
              <a:t> za </a:t>
            </a:r>
            <a:r>
              <a:rPr lang="en-US" sz="2800" dirty="0" err="1"/>
              <a:t>greškama</a:t>
            </a:r>
            <a:r>
              <a:rPr lang="en-US" sz="2800" dirty="0"/>
              <a:t>, </a:t>
            </a:r>
            <a:r>
              <a:rPr lang="en-US" sz="2800" dirty="0" err="1"/>
              <a:t>uz</a:t>
            </a:r>
            <a:r>
              <a:rPr lang="en-US" sz="2800" dirty="0"/>
              <a:t> </a:t>
            </a:r>
            <a:r>
              <a:rPr lang="en-US" sz="2800" dirty="0" err="1"/>
              <a:t>ručno</a:t>
            </a:r>
            <a:r>
              <a:rPr lang="en-US" sz="2800" dirty="0"/>
              <a:t> </a:t>
            </a:r>
            <a:r>
              <a:rPr lang="en-US" sz="2800" dirty="0" err="1"/>
              <a:t>naglašavanje</a:t>
            </a:r>
            <a:r>
              <a:rPr lang="en-US" sz="2800" dirty="0"/>
              <a:t> koji </a:t>
            </a:r>
            <a:r>
              <a:rPr lang="en-US" sz="2800" dirty="0" err="1"/>
              <a:t>podaci</a:t>
            </a:r>
            <a:r>
              <a:rPr lang="en-US" sz="2800" dirty="0"/>
              <a:t> </a:t>
            </a:r>
            <a:r>
              <a:rPr lang="en-US" sz="2800" dirty="0" err="1"/>
              <a:t>nedostaju</a:t>
            </a:r>
            <a:r>
              <a:rPr lang="en-US" sz="2800" dirty="0"/>
              <a:t>,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šta</a:t>
            </a:r>
            <a:r>
              <a:rPr lang="en-US" sz="2800" dirty="0"/>
              <a:t> da </a:t>
            </a:r>
            <a:r>
              <a:rPr lang="en-US" sz="2800" dirty="0" err="1"/>
              <a:t>obrati</a:t>
            </a:r>
            <a:r>
              <a:rPr lang="en-US" sz="2800" dirty="0"/>
              <a:t> </a:t>
            </a:r>
            <a:r>
              <a:rPr lang="en-US" sz="2800" dirty="0" err="1"/>
              <a:t>pažnju</a:t>
            </a:r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EC88D0-2332-07FB-466D-C528F6D98D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883"/>
          <a:stretch>
            <a:fillRect/>
          </a:stretch>
        </p:blipFill>
        <p:spPr>
          <a:xfrm>
            <a:off x="539750" y="2932853"/>
            <a:ext cx="9963150" cy="2921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45504-6D14-F326-3F21-A3A4C43E2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78" y="4139187"/>
            <a:ext cx="9495692" cy="137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6F1F26-1DA0-CD4F-2C0E-8A5A4393760D}"/>
              </a:ext>
            </a:extLst>
          </p:cNvPr>
          <p:cNvSpPr txBox="1"/>
          <p:nvPr/>
        </p:nvSpPr>
        <p:spPr>
          <a:xfrm>
            <a:off x="644678" y="3429000"/>
            <a:ext cx="10906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je </a:t>
            </a:r>
            <a:r>
              <a:rPr lang="en-US" sz="2000" dirty="0" err="1"/>
              <a:t>kroz</a:t>
            </a:r>
            <a:r>
              <a:rPr lang="en-US" sz="2000" dirty="0"/>
              <a:t> </a:t>
            </a:r>
            <a:r>
              <a:rPr lang="en-US" sz="2000" dirty="0" err="1"/>
              <a:t>više</a:t>
            </a:r>
            <a:r>
              <a:rPr lang="en-US" sz="2000" dirty="0"/>
              <a:t> </a:t>
            </a:r>
            <a:r>
              <a:rPr lang="en-US" sz="2000" dirty="0" err="1"/>
              <a:t>prolaza</a:t>
            </a:r>
            <a:r>
              <a:rPr lang="en-US" sz="2000" dirty="0"/>
              <a:t>, </a:t>
            </a:r>
            <a:r>
              <a:rPr lang="en-US" sz="2000" dirty="0" err="1"/>
              <a:t>unapređeno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8703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5 IZ SPECIFIKACIJE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Rasuđivanje po pravilima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Rasuđivanje nad pravnim normama izvodi alat dr-device, pozvan kao spoljni proces nad rulebase-om iz zadatka 3.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EAF0FC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288036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083" y="2951683"/>
            <a:ext cx="405994" cy="405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/ činjenice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sa Nova presuda taba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017520" y="3794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500323" y="260604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EAF0FC"/>
          </a:solidFill>
          <a:ln/>
        </p:spPr>
      </p:sp>
      <p:sp>
        <p:nvSpPr>
          <p:cNvPr id="14" name="Shape 11"/>
          <p:cNvSpPr/>
          <p:nvPr/>
        </p:nvSpPr>
        <p:spPr>
          <a:xfrm>
            <a:off x="4389120" y="288036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43" y="2951683"/>
            <a:ext cx="405994" cy="4059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RuleReasoningRunner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1188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clanKZ → articles, ranijeOsudjivan → previously_convicted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897880" y="3794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309360" y="260604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EAF0FC"/>
          </a:solidFill>
          <a:ln/>
        </p:spPr>
      </p:sp>
      <p:sp>
        <p:nvSpPr>
          <p:cNvPr id="20" name="Shape 16"/>
          <p:cNvSpPr/>
          <p:nvPr/>
        </p:nvSpPr>
        <p:spPr>
          <a:xfrm>
            <a:off x="7269480" y="288036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803" y="2951683"/>
            <a:ext cx="405994" cy="4059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rez_pravila.py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9224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proces nad dr-device rulebase-om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778240" y="3794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189720" y="260604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EAF0FC"/>
          </a:solidFill>
          <a:ln/>
        </p:spPr>
      </p:sp>
      <p:sp>
        <p:nvSpPr>
          <p:cNvPr id="26" name="Shape 21"/>
          <p:cNvSpPr/>
          <p:nvPr/>
        </p:nvSpPr>
        <p:spPr>
          <a:xfrm>
            <a:off x="10149840" y="288036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163" y="2951683"/>
            <a:ext cx="405994" cy="40599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2688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372600" y="4114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Primenjivi</a:t>
            </a: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članovi</a:t>
            </a: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preporučena kazna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FBD1-D50A-AD47-D05E-7A5DDEDD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4E423D9-2719-DB98-EC25-B1A868685DFB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18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CC4030B-863E-3424-72DE-2F4BAE6B7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2" y="177304"/>
            <a:ext cx="11989175" cy="596287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A36BEB6-CA03-78FB-A8D0-A69D8B87A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834" y="6140174"/>
            <a:ext cx="7591923" cy="563137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CE8528-F6D3-59A8-2056-0D6B58BE250C}"/>
              </a:ext>
            </a:extLst>
          </p:cNvPr>
          <p:cNvCxnSpPr/>
          <p:nvPr/>
        </p:nvCxnSpPr>
        <p:spPr>
          <a:xfrm flipH="1">
            <a:off x="9556595" y="5932449"/>
            <a:ext cx="2533992" cy="40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971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E1864-AD66-E371-164C-311D244A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58F505D-058D-CD61-BB7C-3C81A6918413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7E8EBF-5F4B-8ADE-B93D-2870F7BDD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585"/>
          <a:stretch>
            <a:fillRect/>
          </a:stretch>
        </p:blipFill>
        <p:spPr>
          <a:xfrm>
            <a:off x="6537277" y="640080"/>
            <a:ext cx="5359152" cy="5776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611F1-FAF2-0418-4177-393BC3FCA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99" y="540834"/>
            <a:ext cx="5732901" cy="577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22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CC4D-5C0F-1C61-BF75-C21CCC4B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66F5BE-E60E-4FCB-3E4B-9DA46C9963F2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379DA2-2B2A-A7E8-7D14-BE63CC66DE1C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4DFB05-F247-11FC-3370-15BC5E2FCCB5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6 IZ SPECIFIKACIJE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4207DF-6593-99CB-5F91-6DD3D3ACDCC3}"/>
              </a:ext>
            </a:extLst>
          </p:cNvPr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slučajeva i funkcije sličnosti</a:t>
            </a:r>
            <a:endParaRPr lang="en-US" sz="2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4D124A-5212-F6A2-BBD3-910230B64E44}"/>
              </a:ext>
            </a:extLst>
          </p:cNvPr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presude.csv predstavlja slučajeve sa </a:t>
            </a: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</a:t>
            </a:r>
            <a:r>
              <a:rPr lang="en-US" sz="2000" b="1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atributa</a:t>
            </a:r>
            <a:endParaRPr lang="en-US" sz="2000" b="1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FC48119-8251-8A0A-A606-BF94915A34F0}"/>
              </a:ext>
            </a:extLst>
          </p:cNvPr>
          <p:cNvSpPr/>
          <p:nvPr/>
        </p:nvSpPr>
        <p:spPr>
          <a:xfrm>
            <a:off x="548640" y="260604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EAF0FC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D35FD8-93A0-C0F0-B3A5-BDFF474DED29}"/>
              </a:ext>
            </a:extLst>
          </p:cNvPr>
          <p:cNvSpPr/>
          <p:nvPr/>
        </p:nvSpPr>
        <p:spPr>
          <a:xfrm>
            <a:off x="868680" y="292608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97496AF6-68D5-828D-60F3-B5E2A2437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2997403"/>
            <a:ext cx="405994" cy="40599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ED80645D-2234-FD9E-678D-7A2FE92C1265}"/>
              </a:ext>
            </a:extLst>
          </p:cNvPr>
          <p:cNvSpPr/>
          <p:nvPr/>
        </p:nvSpPr>
        <p:spPr>
          <a:xfrm>
            <a:off x="1600200" y="2971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Lokalne funkcije sličnosti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4792721-BAD6-2A38-919D-7B0AC57ED0C3}"/>
              </a:ext>
            </a:extLst>
          </p:cNvPr>
          <p:cNvSpPr/>
          <p:nvPr/>
        </p:nvSpPr>
        <p:spPr>
          <a:xfrm>
            <a:off x="868680" y="361188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— za boolean atribute (npr. elektricnaStruja)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Numerička sličnost — za brojeve (npr. kolicinaUlovaKg)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Težine se razlikuju po grani (ribolov / lov)</a:t>
            </a: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46C7E16-592E-2F3D-2161-0B55BA275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03" y="1153036"/>
            <a:ext cx="6028134" cy="491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52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BFC34-31A8-0717-1692-D31F6F13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5835F56-79AD-6865-3253-5162AA09D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63" y="118908"/>
            <a:ext cx="9432074" cy="47319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2D330C-4923-E0DA-39D5-1F2F4902AE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874"/>
          <a:stretch>
            <a:fillRect/>
          </a:stretch>
        </p:blipFill>
        <p:spPr>
          <a:xfrm>
            <a:off x="713523" y="5400854"/>
            <a:ext cx="9565887" cy="2257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E87695-3DEF-6569-22BA-7450B31CB2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47285"/>
          <a:stretch>
            <a:fillRect/>
          </a:stretch>
        </p:blipFill>
        <p:spPr>
          <a:xfrm>
            <a:off x="713523" y="5812046"/>
            <a:ext cx="8642350" cy="2798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3E03C23-3E14-750E-3696-AE8900AA16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38" t="24758" r="-2738" b="36831"/>
          <a:stretch>
            <a:fillRect/>
          </a:stretch>
        </p:blipFill>
        <p:spPr>
          <a:xfrm>
            <a:off x="713523" y="4850823"/>
            <a:ext cx="5702300" cy="3902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89A0D39-0F4F-5615-008D-D12F630D48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2402" b="30595"/>
          <a:stretch>
            <a:fillRect/>
          </a:stretch>
        </p:blipFill>
        <p:spPr>
          <a:xfrm>
            <a:off x="713523" y="6349316"/>
            <a:ext cx="5702300" cy="37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48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193C9-D3A6-429F-FDD1-39B1F5C5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C890A8F-F8FD-CCCF-B6FB-990B9A747525}"/>
              </a:ext>
            </a:extLst>
          </p:cNvPr>
          <p:cNvSpPr txBox="1"/>
          <p:nvPr/>
        </p:nvSpPr>
        <p:spPr>
          <a:xfrm>
            <a:off x="548640" y="2345307"/>
            <a:ext cx="109031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Anthropic Sans"/>
              </a:rPr>
              <a:t>2 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Anthropic Sans"/>
              </a:rPr>
              <a:t>kategorijalna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Anthropic Sans"/>
              </a:rPr>
              <a:t> 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(</a:t>
            </a:r>
            <a:r>
              <a:rPr lang="en-US" sz="2000" b="0" i="0" dirty="0" err="1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tipDela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, </a:t>
            </a:r>
            <a:r>
              <a:rPr lang="en-US" sz="2000" b="0" i="0" dirty="0" err="1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clanKz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, …)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Anthropic Sans"/>
              </a:rPr>
              <a:t>21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b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Anthropic Sans"/>
              </a:rPr>
              <a:t>oolean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Anthropic Sans"/>
              </a:rPr>
              <a:t> 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(</a:t>
            </a:r>
            <a:r>
              <a:rPr lang="en-US" sz="2000" b="0" i="0" dirty="0" err="1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ranije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nthropic Sans"/>
              </a:rPr>
              <a:t>Osudjivan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, </a:t>
            </a:r>
            <a:r>
              <a:rPr lang="en-US" sz="2000" b="0" i="0" dirty="0" err="1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elektricnaStruja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nthropic Sans"/>
              </a:rPr>
              <a:t>prisutanUlov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nthropic Sans"/>
              </a:rPr>
              <a:t>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nthropic Sans"/>
              </a:rPr>
              <a:t>zasticenaVrsta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nthropic Sans"/>
              </a:rPr>
              <a:t>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nthropic Sans"/>
              </a:rPr>
              <a:t>vatrenoOruzje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nthropic Sans"/>
              </a:rPr>
              <a:t>, …)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Anthropic Sans"/>
              </a:rPr>
              <a:t>5 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Anthropic Sans"/>
              </a:rPr>
              <a:t>numeričkih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Anthropic Sans"/>
              </a:rPr>
              <a:t> 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(</a:t>
            </a:r>
            <a:r>
              <a:rPr lang="en-US" sz="2000" b="0" i="0" dirty="0" err="1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lovackiPsi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, </a:t>
            </a:r>
            <a:r>
              <a:rPr lang="en-US" sz="2000" b="0" i="0" dirty="0" err="1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brojGrlaDivljaci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, </a:t>
            </a:r>
            <a:r>
              <a:rPr lang="en-US" sz="2000" b="0" i="0" dirty="0" err="1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kolicinaUlovaKg</a:t>
            </a:r>
            <a:r>
              <a:rPr lang="en-US" sz="2000" b="0" i="0" dirty="0">
                <a:solidFill>
                  <a:schemeClr val="bg2">
                    <a:lumMod val="75000"/>
                  </a:schemeClr>
                </a:solidFill>
                <a:effectLst/>
                <a:latin typeface="Anthropic Sans"/>
              </a:rPr>
              <a:t>, …)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579D82-5D68-DACC-4F06-6A27BFC1DFB6}"/>
              </a:ext>
            </a:extLst>
          </p:cNvPr>
          <p:cNvSpPr txBox="1"/>
          <p:nvPr/>
        </p:nvSpPr>
        <p:spPr>
          <a:xfrm>
            <a:off x="548640" y="4168982"/>
            <a:ext cx="60941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Od 28 </a:t>
            </a:r>
            <a:r>
              <a:rPr lang="en-US" sz="2400" dirty="0" err="1"/>
              <a:t>atributa</a:t>
            </a:r>
            <a:r>
              <a:rPr lang="en-US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5 je za </a:t>
            </a:r>
            <a:r>
              <a:rPr lang="en-US" sz="2400" dirty="0" err="1"/>
              <a:t>ribolov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12 za </a:t>
            </a:r>
            <a:r>
              <a:rPr lang="en-US" sz="2400" dirty="0" err="1"/>
              <a:t>lov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11 </a:t>
            </a:r>
            <a:r>
              <a:rPr lang="en-US" sz="2400" dirty="0" err="1"/>
              <a:t>zajednickih</a:t>
            </a:r>
            <a:endParaRPr lang="en-US" sz="24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FF7785F-E699-DD05-B965-B02910E3B0A0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4A5DB856-54C0-CBD6-CF69-B2B1BA2A5370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18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667CE8AD-B95A-B182-26FA-E686EBC585EA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6 IZ SPECIFIKACIJE</a:t>
            </a:r>
            <a:endParaRPr lang="en-US" sz="11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15116C51-D97E-B8FD-6E55-C7FC214B1BC2}"/>
              </a:ext>
            </a:extLst>
          </p:cNvPr>
          <p:cNvSpPr/>
          <p:nvPr/>
        </p:nvSpPr>
        <p:spPr>
          <a:xfrm>
            <a:off x="570386" y="1407283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slučajeva i funkcije sličnosti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315534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F50E2-0280-1859-420C-BDE4A25E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2597B04-75B9-7FDD-02C1-31BF72E9E074}"/>
              </a:ext>
            </a:extLst>
          </p:cNvPr>
          <p:cNvSpPr txBox="1"/>
          <p:nvPr/>
        </p:nvSpPr>
        <p:spPr>
          <a:xfrm>
            <a:off x="292161" y="1124699"/>
            <a:ext cx="1114013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Najveće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težine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imaju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atributi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koji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najviše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određuju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 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težinu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krivičnog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dela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kaznu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:</a:t>
            </a:r>
          </a:p>
          <a:p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A0A0A"/>
                </a:solidFill>
                <a:latin typeface="Anthropic Mono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kolicinaUlovaKg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 = 6.0 -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najviša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težina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;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količina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ulova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/plena je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najjači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indikator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koliko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je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delo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ozbiljno</a:t>
            </a:r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A0A0A"/>
                </a:solidFill>
                <a:latin typeface="Anthropic Mono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zabranjenoSredstvo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 = 5.0 —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vrsta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dela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korišćenje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zabranjenog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sredstva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(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npr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.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eksploziv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/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struja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A0A0A"/>
                </a:solidFill>
                <a:latin typeface="Anthropic Mono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tudjeLoviste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 = 4.5 —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otežavajuća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okolnost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kod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lova</a:t>
            </a:r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lovostajIliZabranjeneVode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, 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ranijeOsudjivan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, 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krupnaDivljac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, 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zasticenaVrsta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-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sve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su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to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zakonske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otežavajuće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okolnosti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ili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elementi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krivičnog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dela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iz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čl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. 325/326. = 3.0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saizvrsilastvo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,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prisutanUlov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, … = 2.5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endParaRPr lang="en-US" sz="2000" dirty="0">
              <a:solidFill>
                <a:srgbClr val="0A0A0A"/>
              </a:solidFill>
              <a:latin typeface="Anthropic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agregat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, 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sonda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, 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pretvarac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, 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lovackiPsi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, </a:t>
            </a:r>
            <a:r>
              <a:rPr lang="en-US" sz="2000" dirty="0" err="1">
                <a:solidFill>
                  <a:srgbClr val="0A0A0A"/>
                </a:solidFill>
                <a:latin typeface="Anthropic Mono"/>
              </a:rPr>
              <a:t>bezOruznogLista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 —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sporedni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/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prateći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detalji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koji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retko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sami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menjaju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</a:t>
            </a:r>
            <a:r>
              <a:rPr lang="en-US" sz="2000" dirty="0" err="1">
                <a:solidFill>
                  <a:srgbClr val="0A0A0A"/>
                </a:solidFill>
                <a:latin typeface="Anthropic Sans"/>
              </a:rPr>
              <a:t>ishod</a:t>
            </a:r>
            <a:r>
              <a:rPr lang="en-US" sz="2000" dirty="0">
                <a:solidFill>
                  <a:srgbClr val="0A0A0A"/>
                </a:solidFill>
                <a:latin typeface="Anthropic Sans"/>
              </a:rPr>
              <a:t> = 1.0 – 2.0</a:t>
            </a:r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00B99140-B656-E4AF-D834-8E4E8DDCDF1E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629CE24A-00DB-380E-8CD0-C34FEF15AA61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18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E15EC3F8-BC2C-8BE6-4B65-6DFA1FEB9C9F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6 IZ SPECIFIKACIJE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72234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7 IZ SPECIFIKACIJE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zakona i odluka + navigacija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Presude tab prikazuje puni tekst odluke sa izdvojenim metapodacima i činjenicama; </a:t>
            </a:r>
            <a:r>
              <a:rPr lang="en-US" sz="1400" i="1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Resursi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 prikazuje tekst zakona po </a:t>
            </a:r>
            <a:r>
              <a:rPr lang="en-US" sz="14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stavovima</a:t>
            </a: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AF0FC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06324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3134563"/>
            <a:ext cx="405994" cy="405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3108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dokumenata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374904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Presude: lista, filter po vrsti djela, statistika, detalji predmeta. Tab </a:t>
            </a:r>
            <a:r>
              <a:rPr lang="en-US" sz="1300" i="1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Resursi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članovi i stavovi zakona.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274320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AF0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306324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3134563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3108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Navigacija kroz reference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83680" y="374904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na primijenjeni član u predmetu prebacuje na tab </a:t>
            </a:r>
            <a:r>
              <a:rPr lang="en-US" sz="1300" i="1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Resursi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ističe tačan član/stav crvenom bojom na 10 sekundi.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6D2BA-C677-B8B4-C345-3F81B5EE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5CCF7C-16DD-4C79-54E3-0FE2AE538F7C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797EB4-78F4-75BC-B264-A75A186C4202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FCBE2D-2812-1DE4-9CD2-5DD84E34AC79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7 IZ SPECIFIKACIJE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D05D33-57F4-E926-EA63-A7713677F339}"/>
              </a:ext>
            </a:extLst>
          </p:cNvPr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zakona i odluka + navigacija</a:t>
            </a:r>
            <a:endParaRPr lang="en-US" sz="25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B6F4C12-D044-986E-3ECC-D2ECFD41E7F7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3CBDB7-25FD-F761-6565-B92E2F963D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96"/>
          <a:stretch>
            <a:fillRect/>
          </a:stretch>
        </p:blipFill>
        <p:spPr>
          <a:xfrm>
            <a:off x="5504784" y="1508760"/>
            <a:ext cx="5773017" cy="16998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1D4C3A9-5192-8BDA-9202-9BB41A5D78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3" r="10005" b="-1003"/>
          <a:stretch>
            <a:fillRect/>
          </a:stretch>
        </p:blipFill>
        <p:spPr>
          <a:xfrm>
            <a:off x="274626" y="3241660"/>
            <a:ext cx="11534516" cy="3291840"/>
          </a:xfrm>
          <a:prstGeom prst="rect">
            <a:avLst/>
          </a:prstGeom>
        </p:spPr>
      </p:pic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A586B810-6D1D-0A24-6CF2-D7C92EB33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6892" y="238790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26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8 IZ SPECIFIKACIJE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Rasuđivanje nad unesenim slučajem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osnovu unijetih činjenica sistem paralelno sprovodi rasuđivanje po pravilima i po sličnosti, nudi obrazloženje i čuva slučaj za naredna rasuđivanja.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9333" y="3340017"/>
            <a:ext cx="769467" cy="851319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01" y="3429000"/>
            <a:ext cx="629976" cy="6299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281891"/>
            <a:ext cx="1765248" cy="70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31720" y="3472004"/>
            <a:ext cx="497890" cy="550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45333" y="3340017"/>
            <a:ext cx="769467" cy="851319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601" y="3429000"/>
            <a:ext cx="629976" cy="6299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4281891"/>
            <a:ext cx="1765248" cy="70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Rasuđivanje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17720" y="3472004"/>
            <a:ext cx="497890" cy="550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631333" y="3340017"/>
            <a:ext cx="769467" cy="851319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601" y="3429000"/>
            <a:ext cx="629976" cy="6299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4281891"/>
            <a:ext cx="1765248" cy="70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Odluka sudije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903720" y="3472004"/>
            <a:ext cx="497890" cy="550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917333" y="3340017"/>
            <a:ext cx="769467" cy="851319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601" y="3429000"/>
            <a:ext cx="629976" cy="6299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281891"/>
            <a:ext cx="1765248" cy="70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Čuvanje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189720" y="3472004"/>
            <a:ext cx="497890" cy="550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10203333" y="3340017"/>
            <a:ext cx="769467" cy="851319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601" y="3429000"/>
            <a:ext cx="629976" cy="6299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92640" y="4281891"/>
            <a:ext cx="1765248" cy="70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Ponovo dostupno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9 IZ SPECIFIKACIJE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Generisanje sudske odluke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87375" y="1610259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odluke generiše se kombinacijom statističkog jezičkog modela i šablona, po </a:t>
            </a:r>
            <a:r>
              <a:rPr lang="en-US" sz="20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ugledu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presuda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rezultat se anotira u Akoma Ntoso formatu.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269231" y="2748229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EAF0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589271" y="3068269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594" y="3139592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20791" y="31139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Čuvanje i prikaz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89271" y="3754069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Odluka se anotira i čuva kao Akoma Ntoso XML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Odmah prikazana korisniku i dodata u korpus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Grana za lov trenutno koristi šablonski tekst (manje izvora za trening)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C65B6-4FE4-BEF3-DF87-53ADF3DF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344E4D-B3D5-9F7E-EDED-DBD72145DB1E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2A5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D9CB82-C292-8CE3-DB29-85CC49458296}"/>
              </a:ext>
            </a:extLst>
          </p:cNvPr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Z9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5941F5-C7BE-54E7-EDA1-4404E925CD75}"/>
              </a:ext>
            </a:extLst>
          </p:cNvPr>
          <p:cNvSpPr/>
          <p:nvPr/>
        </p:nvSpPr>
        <p:spPr>
          <a:xfrm>
            <a:off x="1600200" y="45720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9 IZ SPECIFIKACIJE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AD8F0C-7B82-861A-5722-EEBA37EB3B8F}"/>
              </a:ext>
            </a:extLst>
          </p:cNvPr>
          <p:cNvSpPr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Generisanje sudske odluke</a:t>
            </a:r>
            <a:endParaRPr lang="en-US" sz="25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C092692-68D5-598D-75B0-D08628D48C11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65E63E-FF36-5416-2440-BD4439DB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839" y="1005840"/>
            <a:ext cx="6660376" cy="5574445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BD89AD6D-05F7-18BB-731E-5ED27F5D5CF8}"/>
              </a:ext>
            </a:extLst>
          </p:cNvPr>
          <p:cNvSpPr/>
          <p:nvPr/>
        </p:nvSpPr>
        <p:spPr>
          <a:xfrm>
            <a:off x="291733" y="2308860"/>
            <a:ext cx="44471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 err="1"/>
              <a:t>Novodonesena</a:t>
            </a:r>
            <a:r>
              <a:rPr lang="en-US" sz="2500" dirty="0"/>
              <a:t> </a:t>
            </a:r>
            <a:r>
              <a:rPr lang="en-US" sz="2500" dirty="0" err="1"/>
              <a:t>odluka</a:t>
            </a:r>
            <a:r>
              <a:rPr lang="en-US" sz="2500" dirty="0"/>
              <a:t> se </a:t>
            </a:r>
            <a:r>
              <a:rPr lang="en-US" sz="2500" dirty="0" err="1"/>
              <a:t>pojavljuje</a:t>
            </a:r>
            <a:r>
              <a:rPr lang="en-US" sz="2500" dirty="0"/>
              <a:t> </a:t>
            </a:r>
            <a:r>
              <a:rPr lang="en-US" sz="2500" dirty="0" err="1"/>
              <a:t>na</a:t>
            </a:r>
            <a:r>
              <a:rPr lang="en-US" sz="2500" dirty="0"/>
              <a:t> </a:t>
            </a:r>
            <a:r>
              <a:rPr lang="en-US" sz="2500" dirty="0" err="1"/>
              <a:t>listi</a:t>
            </a:r>
            <a:r>
              <a:rPr lang="en-US" sz="2500" dirty="0"/>
              <a:t> </a:t>
            </a:r>
            <a:r>
              <a:rPr lang="en-US" sz="2500" dirty="0" err="1"/>
              <a:t>ostalih</a:t>
            </a:r>
            <a:r>
              <a:rPr lang="en-US" sz="2500" dirty="0"/>
              <a:t> </a:t>
            </a:r>
            <a:r>
              <a:rPr lang="en-US" sz="2500" dirty="0" err="1"/>
              <a:t>presuda</a:t>
            </a:r>
            <a:endParaRPr lang="en-US" sz="25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5E10C2F9-B6E0-A068-8D38-6F16A7D32523}"/>
              </a:ext>
            </a:extLst>
          </p:cNvPr>
          <p:cNvSpPr/>
          <p:nvPr/>
        </p:nvSpPr>
        <p:spPr>
          <a:xfrm>
            <a:off x="291733" y="4245456"/>
            <a:ext cx="44471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/>
              <a:t>Ta </a:t>
            </a:r>
            <a:r>
              <a:rPr lang="en-US" sz="2500" dirty="0" err="1"/>
              <a:t>odluka</a:t>
            </a:r>
            <a:r>
              <a:rPr lang="en-US" sz="2500" dirty="0"/>
              <a:t> </a:t>
            </a:r>
            <a:r>
              <a:rPr lang="en-US" sz="2500" dirty="0" err="1"/>
              <a:t>takođe</a:t>
            </a:r>
            <a:r>
              <a:rPr lang="en-US" sz="2500" dirty="0"/>
              <a:t> </a:t>
            </a:r>
            <a:r>
              <a:rPr lang="en-US" sz="2500" dirty="0" err="1"/>
              <a:t>učestvuje</a:t>
            </a:r>
            <a:r>
              <a:rPr lang="en-US" sz="2500" dirty="0"/>
              <a:t> </a:t>
            </a:r>
            <a:r>
              <a:rPr lang="en-US" sz="2500" dirty="0" err="1"/>
              <a:t>pri</a:t>
            </a:r>
            <a:r>
              <a:rPr lang="en-US" sz="2500" dirty="0"/>
              <a:t> </a:t>
            </a:r>
            <a:r>
              <a:rPr lang="en-US" sz="2500" dirty="0" err="1"/>
              <a:t>rasuđivanju</a:t>
            </a:r>
            <a:r>
              <a:rPr lang="en-US" sz="2500" dirty="0"/>
              <a:t> </a:t>
            </a:r>
            <a:r>
              <a:rPr lang="en-US" sz="2500" dirty="0" err="1"/>
              <a:t>sledećih</a:t>
            </a:r>
            <a:r>
              <a:rPr lang="en-US" sz="2500" dirty="0"/>
              <a:t> </a:t>
            </a:r>
            <a:r>
              <a:rPr lang="en-US" sz="2500" dirty="0" err="1"/>
              <a:t>slučajeva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83974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TEHNIČKA POZADINA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aplikacije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23513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Deljeni</a:t>
            </a: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modeli: CaseRecord, Article, CbrResult, JudgmentInput…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60520" y="20574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AF0FC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2860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500" y="235138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89120" y="2834640"/>
            <a:ext cx="29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Ktor (Netty, :8080) — parseri, builder, CBR, pravila, MC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0" y="205740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EAF0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001000" y="22860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B2A5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380" y="235138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app/shared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001000" y="28346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Multiplatform UI — 3 taba, ApiService (Ktor client)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3832395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DELJENI UI POKREĆE SE NA TRI PLATFORME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24403" y="4482790"/>
            <a:ext cx="2903778" cy="1545224"/>
          </a:xfrm>
          <a:prstGeom prst="roundRect">
            <a:avLst>
              <a:gd name="adj" fmla="val 6452"/>
            </a:avLst>
          </a:prstGeom>
          <a:solidFill>
            <a:srgbClr val="1B2A57"/>
          </a:solidFill>
          <a:ln/>
        </p:spPr>
      </p:sp>
      <p:sp>
        <p:nvSpPr>
          <p:cNvPr id="21" name="Shape 16"/>
          <p:cNvSpPr/>
          <p:nvPr/>
        </p:nvSpPr>
        <p:spPr>
          <a:xfrm>
            <a:off x="1453002" y="4770603"/>
            <a:ext cx="509435" cy="498459"/>
          </a:xfrm>
          <a:prstGeom prst="roundRect">
            <a:avLst>
              <a:gd name="adj" fmla="val 18000"/>
            </a:avLst>
          </a:prstGeom>
          <a:solidFill>
            <a:srgbClr val="1FAFA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2439" y="4832644"/>
            <a:ext cx="376982" cy="3769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53002" y="5313332"/>
            <a:ext cx="2394343" cy="348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jvmMain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453002" y="5601815"/>
            <a:ext cx="2394343" cy="398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(Compose Desktop)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480560" y="4482790"/>
            <a:ext cx="2903778" cy="1545224"/>
          </a:xfrm>
          <a:prstGeom prst="roundRect">
            <a:avLst>
              <a:gd name="adj" fmla="val 6452"/>
            </a:avLst>
          </a:prstGeom>
          <a:solidFill>
            <a:srgbClr val="1B2A57"/>
          </a:solidFill>
          <a:ln/>
        </p:spPr>
      </p:sp>
      <p:sp>
        <p:nvSpPr>
          <p:cNvPr id="26" name="Shape 20"/>
          <p:cNvSpPr/>
          <p:nvPr/>
        </p:nvSpPr>
        <p:spPr>
          <a:xfrm>
            <a:off x="4709159" y="4770603"/>
            <a:ext cx="509435" cy="498459"/>
          </a:xfrm>
          <a:prstGeom prst="roundRect">
            <a:avLst>
              <a:gd name="adj" fmla="val 18000"/>
            </a:avLst>
          </a:prstGeom>
          <a:solidFill>
            <a:srgbClr val="1FAFA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8596" y="4832644"/>
            <a:ext cx="376982" cy="37698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09159" y="5313332"/>
            <a:ext cx="2394343" cy="348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jsMain / wasmJsMain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709159" y="5601815"/>
            <a:ext cx="2394343" cy="398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(wasmJs dev :8081, proxy → 8080)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66380" y="4496450"/>
            <a:ext cx="2903778" cy="1545224"/>
          </a:xfrm>
          <a:prstGeom prst="roundRect">
            <a:avLst>
              <a:gd name="adj" fmla="val 6452"/>
            </a:avLst>
          </a:prstGeom>
          <a:solidFill>
            <a:srgbClr val="1B2A57"/>
          </a:solidFill>
          <a:ln/>
        </p:spPr>
      </p:sp>
      <p:sp>
        <p:nvSpPr>
          <p:cNvPr id="31" name="Shape 24"/>
          <p:cNvSpPr/>
          <p:nvPr/>
        </p:nvSpPr>
        <p:spPr>
          <a:xfrm>
            <a:off x="8294979" y="4784263"/>
            <a:ext cx="509435" cy="498459"/>
          </a:xfrm>
          <a:prstGeom prst="roundRect">
            <a:avLst>
              <a:gd name="adj" fmla="val 18000"/>
            </a:avLst>
          </a:prstGeom>
          <a:solidFill>
            <a:srgbClr val="1FAFA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4416" y="4846304"/>
            <a:ext cx="376982" cy="37698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94979" y="5326992"/>
            <a:ext cx="2394343" cy="348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androidMain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94979" y="5615475"/>
            <a:ext cx="2394343" cy="398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828800" y="-2011680"/>
            <a:ext cx="4754880" cy="4754880"/>
          </a:xfrm>
          <a:prstGeom prst="roundRect">
            <a:avLst>
              <a:gd name="adj" fmla="val 19231"/>
            </a:avLst>
          </a:prstGeom>
          <a:solidFill>
            <a:srgbClr val="1B2A57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9144000" y="4389120"/>
            <a:ext cx="3840480" cy="3840480"/>
          </a:xfrm>
          <a:prstGeom prst="roundRect">
            <a:avLst>
              <a:gd name="adj" fmla="val 21429"/>
            </a:avLst>
          </a:prstGeom>
          <a:solidFill>
            <a:srgbClr val="1FAFA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210312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1FAFA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20" y="222199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918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pažnji!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1191</Words>
  <Application>Microsoft Macintosh PowerPoint</Application>
  <PresentationFormat>Widescreen</PresentationFormat>
  <Paragraphs>225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Anthropic Mono</vt:lpstr>
      <vt:lpstr>Anthropic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Krivična djela protiv životne sredine — sistem za podršku odlučivanju</dc:title>
  <dc:subject>PptxGenJS Presentation</dc:subject>
  <dc:creator>Pravna Informatika</dc:creator>
  <cp:lastModifiedBy>Veljko</cp:lastModifiedBy>
  <cp:revision>14</cp:revision>
  <dcterms:created xsi:type="dcterms:W3CDTF">2026-06-30T18:20:41Z</dcterms:created>
  <dcterms:modified xsi:type="dcterms:W3CDTF">2026-07-01T20:01:21Z</dcterms:modified>
</cp:coreProperties>
</file>